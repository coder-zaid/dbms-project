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291840" cy="329184"/>
          </a:xfrm>
          <a:prstGeom prst="roundRect">
            <a:avLst/>
          </a:prstGeom>
          <a:solidFill>
            <a:srgbClr val="181B22"/>
          </a:solidFill>
          <a:ln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LIVE WORKING DEMONSTRATION - STACK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F6FA"/>
                </a:solidFill>
                <a:latin typeface="Segoe UI"/>
              </a:defRPr>
            </a:pPr>
            <a:r>
              <a:t>Dairy Farm Studio</a:t>
            </a:r>
            <a:br/>
            <a:r>
              <a:t>Enterprise DBMS Management System</a:t>
            </a:r>
          </a:p>
          <a:p>
            <a:pPr>
              <a:defRPr sz="1500">
                <a:solidFill>
                  <a:srgbClr val="8C96A5"/>
                </a:solidFill>
                <a:latin typeface="Segoe UI"/>
              </a:defRPr>
            </a:pPr>
            <a:r>
              <a:t>Presentation-III: Full-Stack Live Demonstration interfacing directly with MySQL Server 8.0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237744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33088"/>
            <a:ext cx="21031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ENTERPRISE STUDIO</a:t>
            </a:r>
          </a:p>
          <a:p>
            <a:pPr>
              <a:defRPr sz="2200" b="1">
                <a:solidFill>
                  <a:srgbClr val="3ECF8E"/>
                </a:solidFill>
                <a:latin typeface="Consolas"/>
              </a:defRPr>
            </a:pPr>
            <a:r>
              <a:t>8 Modules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Supabase + Linear Dark Theme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4023360"/>
            <a:ext cx="237744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4133088"/>
            <a:ext cx="21031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SQL TELEMETRY</a:t>
            </a:r>
          </a:p>
          <a:p>
            <a:pPr>
              <a:defRPr sz="2200" b="1">
                <a:solidFill>
                  <a:srgbClr val="5E6AD2"/>
                </a:solidFill>
                <a:latin typeface="Consolas"/>
              </a:defRPr>
            </a:pPr>
            <a:r>
              <a:t>1.38 ms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Sub-2ms Query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023360"/>
            <a:ext cx="237744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4133088"/>
            <a:ext cx="21031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TRANSACTIONS</a:t>
            </a:r>
          </a:p>
          <a:p>
            <a:pPr>
              <a:defRPr sz="2200" b="1">
                <a:solidFill>
                  <a:srgbClr val="3ECF8E"/>
                </a:solidFill>
                <a:latin typeface="Consolas"/>
              </a:defRPr>
            </a:pPr>
            <a:r>
              <a:t>Live ACID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Before/After Audit Protocol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023360"/>
            <a:ext cx="301752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4133088"/>
            <a:ext cx="27432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CANDIDATE</a:t>
            </a:r>
          </a:p>
          <a:p>
            <a:pPr>
              <a:defRPr sz="2200" b="1">
                <a:solidFill>
                  <a:srgbClr val="F4F6FA"/>
                </a:solidFill>
                <a:latin typeface="Consolas"/>
              </a:defRPr>
            </a:pPr>
            <a:r>
              <a:t>Mohammed Zaid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Roll No: 25WU0102163</a:t>
            </a:r>
            <a:br/>
            <a:r>
              <a:t>Faculty: Dr. Kiran Mayee Adavala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3-Tier System Architecture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Decoupled architecture connecting modern browser interface directly to MySQL 8.0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1. 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2C8D4"/>
                </a:solidFill>
              </a:defRPr>
            </a:pPr>
            <a:r>
              <a:t>Enterprise Studio Interface</a:t>
            </a:r>
            <a:br/>
            <a:br/>
            <a:r>
              <a:t>- HTML5 Semantic Layout</a:t>
            </a:r>
            <a:br/>
            <a:r>
              <a:t>- Vanilla CSS3 (Zero external CSS framework dependencies)</a:t>
            </a:r>
            <a:br/>
            <a:r>
              <a:t>- Supabase Emerald + Linear Dark Design System</a:t>
            </a:r>
            <a:br/>
            <a:r>
              <a:t>- Modular Single-Page App (SPA)</a:t>
            </a:r>
            <a:br/>
            <a:r>
              <a:t>- Real-time Before/After audit slide-down transaction drawer</a:t>
            </a:r>
            <a:br/>
            <a:r>
              <a:t>- Monospace SQL 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2. Application &amp; 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2C8D4"/>
                </a:solidFill>
              </a:defRPr>
            </a:pPr>
            <a:r>
              <a:t>FastAPI Asynchronous Gateway</a:t>
            </a:r>
            <a:br/>
            <a:br/>
            <a:r>
              <a:t>- Python 3.12 + FastAPI Engine</a:t>
            </a:r>
            <a:br/>
            <a:r>
              <a:t>- PyMySQL Native Driver with Repeatable Read Isolation</a:t>
            </a:r>
            <a:br/>
            <a:r>
              <a:t>- Pydantic v2 Schema Validation</a:t>
            </a:r>
            <a:br/>
            <a:r>
              <a:t>- Atomic 2-table multi-insert transaction handlers</a:t>
            </a:r>
            <a:br/>
            <a:r>
              <a:t>- Execution time telemetry measuring query latency</a:t>
            </a:r>
            <a:br/>
            <a:r>
              <a:t>- Clean JSON row serialization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3. Database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2C8D4"/>
                </a:solidFill>
              </a:defRPr>
            </a:pPr>
            <a:r>
              <a:t>MySQL Community 8.0.46</a:t>
            </a:r>
            <a:br/>
            <a:br/>
            <a:r>
              <a:t>- Database: dairy_farm_db</a:t>
            </a:r>
            <a:br/>
            <a:r>
              <a:t>- 14 Base Tables + 1 View</a:t>
            </a:r>
            <a:br/>
            <a:r>
              <a:t>- InnoDB Storage Engine</a:t>
            </a:r>
            <a:br/>
            <a:r>
              <a:t>- Foreign keys with ON DELETE CASCADE</a:t>
            </a:r>
            <a:br/>
            <a:r>
              <a:t>- 4 Active Business Triggers</a:t>
            </a:r>
            <a:br/>
            <a:r>
              <a:t>- Full B-Tree indexing on primary keys and ear-tags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STUDIO WORKBENCH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Comprehensive Studio Navigation: 8 Specialized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Organized workbench providing specialized tools for operations, laboratory, and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105156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ECF8E"/>
                </a:solidFill>
              </a:defRPr>
            </a:pPr>
            <a:r>
              <a:t>1. Dashboard &amp; KPIs</a:t>
            </a:r>
          </a:p>
          <a:p>
            <a:pPr>
              <a:defRPr sz="1000">
                <a:solidFill>
                  <a:srgbClr val="C2C8D4"/>
                </a:solidFill>
              </a:defRPr>
            </a:pPr>
            <a:r>
              <a:t>Live production telemetry, shift harvest breakdown, and quality averages.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105156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5E6AD2"/>
                </a:solidFill>
              </a:defRPr>
            </a:pPr>
            <a:r>
              <a:t>2. Herd Master Registry</a:t>
            </a:r>
          </a:p>
          <a:p>
            <a:pPr>
              <a:defRPr sz="1000">
                <a:solidFill>
                  <a:srgbClr val="C2C8D4"/>
                </a:solidFill>
              </a:defRPr>
            </a:pPr>
            <a:r>
              <a:t>Master cattle inventory with ear tag search, status filters, and modal inserts.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212080" cy="105156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ECF8E"/>
                </a:solidFill>
              </a:defRPr>
            </a:pPr>
            <a:r>
              <a:t>3. Milk Collection &amp; Yield</a:t>
            </a:r>
          </a:p>
          <a:p>
            <a:pPr>
              <a:defRPr sz="1000">
                <a:solidFill>
                  <a:srgbClr val="C2C8D4"/>
                </a:solidFill>
              </a:defRPr>
            </a:pPr>
            <a:r>
              <a:t>Milking session logging joined atomically across milking_session and milk_yield.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88920"/>
            <a:ext cx="5212080" cy="105156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880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5E6AD2"/>
                </a:solidFill>
              </a:defRPr>
            </a:pPr>
            <a:r>
              <a:t>4. Quality Control Lab</a:t>
            </a:r>
          </a:p>
          <a:p>
            <a:pPr>
              <a:defRPr sz="1000">
                <a:solidFill>
                  <a:srgbClr val="C2C8D4"/>
                </a:solidFill>
              </a:defRPr>
            </a:pPr>
            <a:r>
              <a:t>Laboratory assays: butterfat %, SNF %, density, and automated Grade A tagging.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212080" cy="105156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5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ECF8E"/>
                </a:solidFill>
              </a:defRPr>
            </a:pPr>
            <a:r>
              <a:t>5. Feed &amp; Warehouse Stock</a:t>
            </a:r>
          </a:p>
          <a:p>
            <a:pPr>
              <a:defRPr sz="1000">
                <a:solidFill>
                  <a:srgbClr val="C2C8D4"/>
                </a:solidFill>
              </a:defRPr>
            </a:pPr>
            <a:r>
              <a:t>Warehouse commodities catalog with reorder warnings and animal dispensation logs.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931920"/>
            <a:ext cx="5212080" cy="105156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02335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5E6AD2"/>
                </a:solidFill>
              </a:defRPr>
            </a:pPr>
            <a:r>
              <a:t>6. Commercial Sales &amp; 3NF Billing</a:t>
            </a:r>
          </a:p>
          <a:p>
            <a:pPr>
              <a:defRPr sz="1000">
                <a:solidFill>
                  <a:srgbClr val="C2C8D4"/>
                </a:solidFill>
              </a:defRPr>
            </a:pPr>
            <a:r>
              <a:t>Invoice settlement reconciliation tracking billed amounts and balance dues.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5212080" cy="105156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5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ECF8E"/>
                </a:solidFill>
              </a:defRPr>
            </a:pPr>
            <a:r>
              <a:t>7. Interactive SQL Studio</a:t>
            </a:r>
          </a:p>
          <a:p>
            <a:pPr>
              <a:defRPr sz="1000">
                <a:solidFill>
                  <a:srgbClr val="C2C8D4"/>
                </a:solidFill>
              </a:defRPr>
            </a:pPr>
            <a:r>
              <a:t>Live in-browser SQL runner with presets (Query 29 trace) and execution telemetry.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5074920"/>
            <a:ext cx="5212080" cy="105156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516635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5E6AD2"/>
                </a:solidFill>
              </a:defRPr>
            </a:pPr>
            <a:r>
              <a:t>8. Schema &amp; Table Inspector</a:t>
            </a:r>
          </a:p>
          <a:p>
            <a:pPr>
              <a:defRPr sz="1000">
                <a:solidFill>
                  <a:srgbClr val="C2C8D4"/>
                </a:solidFill>
              </a:defRPr>
            </a:pPr>
            <a:r>
              <a:t>Architectural specification of all 14 base relations, PKs, FKs, and normalization.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LIVE UI: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Live Demonstration: Executive Telemetry &amp; KPI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Real-time production, livestock headcount, and revenue aggregates from MySQL 8.0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7498079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7132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Verified Dashboard UI (Supabase/Linear Theme)</a:t>
            </a:r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7223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03920" y="1645920"/>
            <a:ext cx="292608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7830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Live Metrics Highlight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10312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200">
                <a:solidFill>
                  <a:srgbClr val="3ECF8E"/>
                </a:solidFill>
              </a:rPr>
              <a:t>50 Cattle
</a:t>
            </a:r>
            <a:r>
              <a:rPr sz="1000">
                <a:solidFill>
                  <a:srgbClr val="C2C8D4"/>
                </a:solidFill>
              </a:rPr>
              <a:t>Registered in animal table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3ECF8E"/>
                </a:solidFill>
              </a:rPr>
              <a:t>991.0 L
</a:t>
            </a:r>
            <a:r>
              <a:rPr sz="1000">
                <a:solidFill>
                  <a:srgbClr val="C2C8D4"/>
                </a:solidFill>
              </a:rPr>
              <a:t>Cumulative yield from milk_yield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3ECF8E"/>
                </a:solidFill>
              </a:rPr>
              <a:t>₹18,905.00
</a:t>
            </a:r>
            <a:r>
              <a:rPr sz="1000">
                <a:solidFill>
                  <a:srgbClr val="C2C8D4"/>
                </a:solidFill>
              </a:rPr>
              <a:t>Invoiced commercial revenue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3ECF8E"/>
                </a:solidFill>
              </a:rPr>
              <a:t>0 Stock Alerts
</a:t>
            </a:r>
            <a:r>
              <a:rPr sz="1000">
                <a:solidFill>
                  <a:srgbClr val="C2C8D4"/>
                </a:solidFill>
              </a:rPr>
              <a:t>Feed inventory safe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3ECF8E"/>
                </a:solidFill>
              </a:rPr>
              <a:t>Shifts:
</a:t>
            </a:r>
            <a:r>
              <a:rPr sz="1000">
                <a:solidFill>
                  <a:srgbClr val="C2C8D4"/>
                </a:solidFill>
              </a:rPr>
              <a:t>Morning (494 L) vs Evening (497 L)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3ECF8E"/>
                </a:solidFill>
              </a:rPr>
              <a:t>Lab Averages:
</a:t>
            </a:r>
            <a:r>
              <a:rPr sz="1000">
                <a:solidFill>
                  <a:srgbClr val="C2C8D4"/>
                </a:solidFill>
              </a:rPr>
              <a:t>3.95% Fat, 8.6% SNF, 1.03 Density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LIVE UI: HERD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Live Demonstration: Cattle Master Registry &amp; CRUD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Biological lifecycle tracking with foreign key cascades into clinical and reproductive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7498079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7132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Cattle Master Registry Table (50 Base Records)</a:t>
            </a:r>
          </a:p>
        </p:txBody>
      </p:sp>
      <p:pic>
        <p:nvPicPr>
          <p:cNvPr id="9" name="Picture 8" descr="herd_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7223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03920" y="1645920"/>
            <a:ext cx="292608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7830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Operations &amp;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10312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5E6AD2"/>
                </a:solidFill>
              </a:rPr>
              <a:t>Ear Tag Search: </a:t>
            </a:r>
            <a:r>
              <a:rPr sz="1000">
                <a:solidFill>
                  <a:srgbClr val="C2C8D4"/>
                </a:solidFill>
              </a:rPr>
              <a:t>Real-time client filter matching tag or breed name.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5E6AD2"/>
                </a:solidFill>
              </a:rPr>
              <a:t>Status Dropdown: </a:t>
            </a:r>
            <a:r>
              <a:rPr sz="1000">
                <a:solidFill>
                  <a:srgbClr val="C2C8D4"/>
                </a:solidFill>
              </a:rPr>
              <a:t>Filter by Active, Sold, Deceased, or Transferred.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5E6AD2"/>
                </a:solidFill>
              </a:rPr>
              <a:t>Modal Registration: </a:t>
            </a:r>
            <a:r>
              <a:rPr sz="1000">
                <a:solidFill>
                  <a:srgbClr val="C2C8D4"/>
                </a:solidFill>
              </a:rPr>
              <a:t>Atomic INSERT with UNIQUE tag constraint.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5E6AD2"/>
                </a:solidFill>
              </a:rPr>
              <a:t>Cascade Delete: </a:t>
            </a:r>
            <a:r>
              <a:rPr sz="1000">
                <a:solidFill>
                  <a:srgbClr val="C2C8D4"/>
                </a:solidFill>
              </a:rPr>
              <a:t>Safety modal warning of child deletions in clinical logs.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5E6AD2"/>
                </a:solidFill>
              </a:rPr>
              <a:t>Before/After Delta: </a:t>
            </a:r>
            <a:r>
              <a:rPr sz="1000">
                <a:solidFill>
                  <a:srgbClr val="C2C8D4"/>
                </a:solidFill>
              </a:rPr>
              <a:t>Slide-down audit drawer logs count delta.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LIVE UI: SQL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Live Demonstration: Interactive SQL Studio &amp; Sub-2ms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In-browser SQL console executing live against MySQL 8.0 with preset shortcuts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7498079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7132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Interactive SQL Studio (Query 29 Executed in 1.38 ms)</a:t>
            </a:r>
          </a:p>
        </p:txBody>
      </p:sp>
      <p:pic>
        <p:nvPicPr>
          <p:cNvPr id="9" name="Picture 8" descr="sql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7223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03920" y="1645920"/>
            <a:ext cx="292608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7830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Studio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10312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3ECF8E"/>
                </a:solidFill>
              </a:rPr>
              <a:t>Query #29 Preset: </a:t>
            </a:r>
            <a:r>
              <a:rPr sz="1000">
                <a:solidFill>
                  <a:srgbClr val="C2C8D4"/>
                </a:solidFill>
              </a:rPr>
              <a:t>1-click execution tracing Animal 20 end-to-end.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ECF8E"/>
                </a:solidFill>
              </a:rPr>
              <a:t>Execution Telemetry: </a:t>
            </a:r>
            <a:r>
              <a:rPr sz="1000">
                <a:solidFill>
                  <a:srgbClr val="C2C8D4"/>
                </a:solidFill>
              </a:rPr>
              <a:t>Sub-2ms execution time displayed in real time.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ECF8E"/>
                </a:solidFill>
              </a:rPr>
              <a:t>Dynamic Tables: </a:t>
            </a:r>
            <a:r>
              <a:rPr sz="1000">
                <a:solidFill>
                  <a:srgbClr val="C2C8D4"/>
                </a:solidFill>
              </a:rPr>
              <a:t>Renders arbitrary column headers and rows automatically.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ECF8E"/>
                </a:solidFill>
              </a:rPr>
              <a:t>Safety Restraints: </a:t>
            </a:r>
            <a:r>
              <a:rPr sz="1000">
                <a:solidFill>
                  <a:srgbClr val="C2C8D4"/>
                </a:solidFill>
              </a:rPr>
              <a:t>Guards prevent destructive DROP/TRUNCATE statements.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ECF8E"/>
                </a:solidFill>
              </a:rPr>
              <a:t>Keybinding: </a:t>
            </a:r>
            <a:r>
              <a:rPr sz="1000">
                <a:solidFill>
                  <a:srgbClr val="C2C8D4"/>
                </a:solidFill>
              </a:rPr>
              <a:t>Ctrl+Enter shortcut for instant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LIVE UI: SCHEMA INSPECTOR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Live Demonstration: Schema &amp; Relational Architecture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Interactive inventory verifying all 14 base relations, primary keys, and foreign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7498079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7132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Verified Schema &amp; Relational Architecture</a:t>
            </a:r>
          </a:p>
        </p:txBody>
      </p:sp>
      <p:pic>
        <p:nvPicPr>
          <p:cNvPr id="9" name="Picture 8" descr="schema_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7223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03920" y="1645920"/>
            <a:ext cx="292608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7830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Relational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10312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5E6AD2"/>
                </a:solidFill>
              </a:rPr>
              <a:t>14 Tables: </a:t>
            </a:r>
            <a:r>
              <a:rPr sz="1000">
                <a:solidFill>
                  <a:srgbClr val="C2C8D4"/>
                </a:solidFill>
              </a:rPr>
              <a:t>All powered by MySQL InnoDB engine.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5E6AD2"/>
                </a:solidFill>
              </a:rPr>
              <a:t>50 Rows Each: </a:t>
            </a:r>
            <a:r>
              <a:rPr sz="1000">
                <a:solidFill>
                  <a:srgbClr val="C2C8D4"/>
                </a:solidFill>
              </a:rPr>
              <a:t>Complete, realistic test dataset.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5E6AD2"/>
                </a:solidFill>
              </a:rPr>
              <a:t>14 Foreign Keys: </a:t>
            </a:r>
            <a:r>
              <a:rPr sz="1000">
                <a:solidFill>
                  <a:srgbClr val="C2C8D4"/>
                </a:solidFill>
              </a:rPr>
              <a:t>Explicit cascade rules prevent orphan tuples.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5E6AD2"/>
                </a:solidFill>
              </a:rPr>
              <a:t>1 SQL View: </a:t>
            </a:r>
            <a:r>
              <a:rPr sz="1000">
                <a:solidFill>
                  <a:srgbClr val="C2C8D4"/>
                </a:solidFill>
              </a:rPr>
              <a:t>animal_milk_summary derived aggregate.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5E6AD2"/>
                </a:solidFill>
              </a:rPr>
              <a:t>100% 3NF: </a:t>
            </a:r>
            <a:r>
              <a:rPr sz="1000">
                <a:solidFill>
                  <a:srgbClr val="C2C8D4"/>
                </a:solidFill>
              </a:rPr>
              <a:t>Formally validated against course requirements.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CRUD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Live Demonstration Protocol: Before &amp; After CRUD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Standardized 4-step demonstration protocol for the 10-minute faculty viva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Step 1: Dashboard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2C8D4"/>
                </a:solidFill>
              </a:defRPr>
            </a:pPr>
            <a:r>
              <a:t>Show live metrics: 50 registered cattle, 991 L total yield, ₹18,905 revenue. Show connection badge connected to localhost:3306.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212080" cy="210312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Step 2: Insert New Cattle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2C8D4"/>
                </a:solidFill>
              </a:defRPr>
            </a:pPr>
            <a:r>
              <a:t>Open '+ Register Cattle' modal. Register ear tag A9999. Show live slide-down banner displaying Before: 50, After: 51, Delta: +1.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Step 3: Log Milking Yield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80559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2C8D4"/>
                </a:solidFill>
              </a:defRPr>
            </a:pPr>
            <a:r>
              <a:t>Open '+ Log Milk Yield'. Log 18.5 Litres for cow A9999. Verify 2-table atomic transaction in milking_session and milk_yield.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5212080" cy="210312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0690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Step 4: Cascade 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80559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2C8D4"/>
                </a:solidFill>
              </a:defRPr>
            </a:pPr>
            <a:r>
              <a:t>Delete test cattle. Verify safety modal and cascade deletion across child clinical visits and milking sessions. Delta: -1.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VIVA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Viva Defense Preparation: High-Impact Examiner 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Anticipated questions on connectivity, transaction management, and indexing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Architecture &amp; Connectivity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Q: How does the application connect to MySQL?
</a:t>
            </a:r>
            <a:r>
              <a:rPr sz="1000">
                <a:solidFill>
                  <a:srgbClr val="C2C8D4"/>
                </a:solidFill>
              </a:rPr>
              <a:t>Answer: Using PyMySQL native connection pools. Credentials configured via environment variables and backend/config.py.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Q: How do you prevent SQL Injection?
</a:t>
            </a:r>
            <a:r>
              <a:rPr sz="1000">
                <a:solidFill>
                  <a:srgbClr val="C2C8D4"/>
                </a:solidFill>
              </a:rPr>
              <a:t>Answer: All endpoints use parameterized queries (%s placeholders) and Pydantic input models. Zero string concatenation in production endpoints.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Q: How is concurrency handled?
</a:t>
            </a:r>
            <a:r>
              <a:rPr sz="1000">
                <a:solidFill>
                  <a:srgbClr val="C2C8D4"/>
                </a:solidFill>
              </a:rPr>
              <a:t>Answer: MySQL InnoDB handles transactions with Repeatable Read isolation, using row-level locking rather than table 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DBMS &amp; Integrity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100">
                <a:solidFill>
                  <a:srgbClr val="5E6AD2"/>
                </a:solidFill>
              </a:rPr>
              <a:t>Q: What happens if you insert duplicate ear tag?
</a:t>
            </a:r>
            <a:r>
              <a:rPr sz="1000">
                <a:solidFill>
                  <a:srgbClr val="C2C8D4"/>
                </a:solidFill>
              </a:rPr>
              <a:t>Answer: MySQL rejects the statement with ER_DUP_ENTRY (error 1062) because of the UNIQUE KEY constraint on animal.animal_tag.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5E6AD2"/>
                </a:solidFill>
              </a:rPr>
              <a:t>Q: Why are transactions used in Log Milk Yield?
</a:t>
            </a:r>
            <a:r>
              <a:rPr sz="1000">
                <a:solidFill>
                  <a:srgbClr val="C2C8D4"/>
                </a:solidFill>
              </a:rPr>
              <a:t>Answer: Adding a milk harvest requires inserting into milking_session, capturing lastrowid, and inserting into milk_yield. If the second insert fails, rollback occurs.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5E6AD2"/>
                </a:solidFill>
              </a:rPr>
              <a:t>Q: What does Query #29 prove?
</a:t>
            </a:r>
            <a:r>
              <a:rPr sz="1000">
                <a:solidFill>
                  <a:srgbClr val="C2C8D4"/>
                </a:solidFill>
              </a:rPr>
              <a:t>Answer: It proves the complete relational integrity of our schema, joining 6 relations across production, quality, and commercial sales without broken links.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SUBMISSION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Course Project Engineering Highlights &amp; Submission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Complete deliverable package ready for presentation and final faculty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37744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21031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MYSQL SCHEMA</a:t>
            </a:r>
          </a:p>
          <a:p>
            <a:pPr>
              <a:defRPr sz="2200" b="1">
                <a:solidFill>
                  <a:srgbClr val="3ECF8E"/>
                </a:solidFill>
                <a:latin typeface="Consolas"/>
              </a:defRPr>
            </a:pPr>
            <a:r>
              <a:t>14 Tables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50 rows/table (700 rows total)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37744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755648"/>
            <a:ext cx="21031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SQL PACK</a:t>
            </a:r>
          </a:p>
          <a:p>
            <a:pPr>
              <a:defRPr sz="2200" b="1">
                <a:solidFill>
                  <a:srgbClr val="5E6AD2"/>
                </a:solidFill>
                <a:latin typeface="Consolas"/>
              </a:defRPr>
            </a:pPr>
            <a:r>
              <a:t>30+ Queries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Query #29 trace 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645920"/>
            <a:ext cx="237744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755648"/>
            <a:ext cx="21031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DAIRY FARM STUDIO</a:t>
            </a:r>
          </a:p>
          <a:p>
            <a:pPr>
              <a:defRPr sz="2200" b="1">
                <a:solidFill>
                  <a:srgbClr val="3ECF8E"/>
                </a:solidFill>
                <a:latin typeface="Consolas"/>
              </a:defRPr>
            </a:pPr>
            <a:r>
              <a:t>8 Modules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Live at http://127.0.0.1:8000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45920"/>
            <a:ext cx="301752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755648"/>
            <a:ext cx="27432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PROJECT DELIVERABLE</a:t>
            </a:r>
          </a:p>
          <a:p>
            <a:pPr>
              <a:defRPr sz="2200" b="1">
                <a:solidFill>
                  <a:srgbClr val="5E6AD2"/>
                </a:solidFill>
                <a:latin typeface="Consolas"/>
              </a:defRPr>
            </a:pPr>
            <a:r>
              <a:t>Full Report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Docx, PPTX &amp; SQL Scripts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10698480" cy="301752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Verified Submission Package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2C8D4"/>
                </a:solidFill>
              </a:defRPr>
            </a:pPr>
            <a:r>
              <a:t>- Presentation-I/: Official problem statement description and scope definition.</a:t>
            </a:r>
            <a:br/>
            <a:r>
              <a:t>- Presentation-II/: 10-slide architectural deck, full MySQL SQL dump (dairy_farm_db_full.sql), 30-query pack, and EER diagram.</a:t>
            </a:r>
            <a:br/>
            <a:r>
              <a:t>- Presentation-III/: 10-slide live demonstration deck, live working source code (FastAPI + Studio SPA), one-click run script, and screenshots.</a:t>
            </a:r>
            <a:br/>
            <a:r>
              <a:t>- Project-Report/: Comprehensive project report document (DBMS_Project_Report_Mohammed_Zaid.docx).</a:t>
            </a:r>
            <a:br/>
            <a:r>
              <a:t>- Gamma.app Ready: One-click Markdown import files included for instant regeneration on gamma.app.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