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926080" cy="329184"/>
          </a:xfrm>
          <a:prstGeom prst="roundRect">
            <a:avLst/>
          </a:prstGeom>
          <a:solidFill>
            <a:srgbClr val="181B22"/>
          </a:solidFill>
          <a:ln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DATABASE ARCHITECTURE - 3NF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6FA"/>
                </a:solidFill>
                <a:latin typeface="Segoe UI"/>
              </a:defRPr>
            </a:pPr>
            <a:r>
              <a:t>Dairy Farm Herd &amp; Milk Collection</a:t>
            </a:r>
            <a:br/>
            <a:r>
              <a:t>Management System</a:t>
            </a:r>
          </a:p>
          <a:p>
            <a:pPr>
              <a:defRPr sz="1500">
                <a:solidFill>
                  <a:srgbClr val="8C96A5"/>
                </a:solidFill>
                <a:latin typeface="Segoe UI"/>
              </a:defRPr>
            </a:pPr>
            <a:r>
              <a:t>Presentation-II: Relational Schema, Integrity Constraints, 3NF Normalization &amp; 30-Query SQL Pack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3308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RELATIONAL MODEL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14 Tables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50 Rows Per Table (InnoDB)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02336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413308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NORMALIZATION</a:t>
            </a:r>
          </a:p>
          <a:p>
            <a:pPr>
              <a:defRPr sz="2200" b="1">
                <a:solidFill>
                  <a:srgbClr val="5E6AD2"/>
                </a:solidFill>
                <a:latin typeface="Consolas"/>
              </a:defRPr>
            </a:pPr>
            <a:r>
              <a:t>100% 3NF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Zero Partial / Transitive Dep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023360"/>
            <a:ext cx="2377440" cy="128016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4133088"/>
            <a:ext cx="21031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BUSINESS AUTOMATION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4 Triggers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Feed &amp; Revenue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023360"/>
            <a:ext cx="2377440" cy="292608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133088"/>
            <a:ext cx="2103120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CANDIDATE</a:t>
            </a:r>
          </a:p>
          <a:p>
            <a:pPr>
              <a:defRPr sz="2200" b="1">
                <a:solidFill>
                  <a:srgbClr val="F4F6FA"/>
                </a:solidFill>
                <a:latin typeface="Consolas"/>
              </a:defRPr>
            </a:pPr>
            <a:r>
              <a:t>Mohammed Zaid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Roll No: 25WU0102163</a:t>
            </a:r>
            <a:br/>
            <a:r>
              <a:t>Faculty: Dr. Kiran Mayee Adavala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PROBLEM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Problem Statement &amp; Relational Engineering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Transitioning traditional paper registers into an ACID-compliant transactional RDBMS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The Traditional Dairy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200">
                <a:solidFill>
                  <a:srgbClr val="3ECF8E"/>
                </a:solidFill>
              </a:rPr>
              <a:t>Data Fragmentation:</a:t>
            </a:r>
            <a:r>
              <a:rPr sz="1200">
                <a:solidFill>
                  <a:srgbClr val="C2C8D4"/>
                </a:solidFill>
              </a:rPr>
              <a:t> Milk yields, clinical vaccinations, breeding lineages, and buyer invoices are recorded on disjointed logbooks with no relational integrity.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3ECF8E"/>
                </a:solidFill>
              </a:rPr>
              <a:t>Yield Attribution Losses:</a:t>
            </a:r>
            <a:r>
              <a:rPr sz="1200">
                <a:solidFill>
                  <a:srgbClr val="C2C8D4"/>
                </a:solidFill>
              </a:rPr>
              <a:t> Inability to correlate individual cattle lactation trends against feed ration consumption and biological breed characteristics.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3ECF8E"/>
                </a:solidFill>
              </a:rPr>
              <a:t>Financial Reconciliations:</a:t>
            </a:r>
            <a:r>
              <a:rPr sz="1200">
                <a:solidFill>
                  <a:srgbClr val="C2C8D4"/>
                </a:solidFill>
              </a:rPr>
              <a:t> Mismatched ledger entries between bulk milk yields and cooperative distributor accounts receivable.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DBMS Architectural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200">
                <a:solidFill>
                  <a:srgbClr val="5E6AD2"/>
                </a:solidFill>
              </a:rPr>
              <a:t>Relational Integrity:</a:t>
            </a:r>
            <a:r>
              <a:rPr sz="1200">
                <a:solidFill>
                  <a:srgbClr val="C2C8D4"/>
                </a:solidFill>
              </a:rPr>
              <a:t> Enforce foreign keys with ON DELETE CASCADE and ON UPDATE CASCADE across 14 tables to avoid orphaned clinical and milking records.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5E6AD2"/>
                </a:solidFill>
              </a:rPr>
              <a:t>3NF Formalization:</a:t>
            </a:r>
            <a:r>
              <a:rPr sz="1200">
                <a:solidFill>
                  <a:srgbClr val="C2C8D4"/>
                </a:solidFill>
              </a:rPr>
              <a:t> Eliminate update, insertion, and deletion anomalies by isolating entities into independent Boyce-Codd / 3NF relations.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5E6AD2"/>
                </a:solidFill>
              </a:rPr>
              <a:t>Active Triggers:</a:t>
            </a:r>
            <a:r>
              <a:rPr sz="1200">
                <a:solidFill>
                  <a:srgbClr val="C2C8D4"/>
                </a:solidFill>
              </a:rPr>
              <a:t> Enforce stock validation (before_feed_issue) and automatic ledger balance computations (after_sale_item).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5E6AD2"/>
                </a:solidFill>
              </a:rPr>
              <a:t>Live Demonstration:</a:t>
            </a:r>
            <a:r>
              <a:rPr sz="1200">
                <a:solidFill>
                  <a:srgbClr val="C2C8D4"/>
                </a:solidFill>
              </a:rPr>
              <a:t> Interface FastAPI and MySQL 8.0 directly with sub-2 millisecond query telemetry.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CONCEPTUAL EER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Conceptual Design &amp; Enhanced Entity-Relationship (EER)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14 strongly-typed entities with unary, binary, and associative relationship cardinalities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713232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6766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Enhanced Entity-Relationship Diagram</a:t>
            </a:r>
          </a:p>
        </p:txBody>
      </p:sp>
      <p:pic>
        <p:nvPicPr>
          <p:cNvPr id="9" name="Picture 8" descr="ER_Diagram_and_Relational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676656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Key Structural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animal -&gt; breed (M:1):</a:t>
            </a:r>
            <a:r>
              <a:rPr sz="1050">
                <a:solidFill>
                  <a:srgbClr val="C2C8D4"/>
                </a:solidFill>
              </a:rPr>
              <a:t> Each animal is categorized under exactly one biological breed.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breeding_event (Unary 1:N):</a:t>
            </a:r>
            <a:r>
              <a:rPr sz="1050">
                <a:solidFill>
                  <a:srgbClr val="C2C8D4"/>
                </a:solidFill>
              </a:rPr>
              <a:t> sire_id references animal.animal_id recursively for pedigree lineage tracking.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feed_issue (M:N Associative):</a:t>
            </a:r>
            <a:r>
              <a:rPr sz="1050">
                <a:solidFill>
                  <a:srgbClr val="C2C8D4"/>
                </a:solidFill>
              </a:rPr>
              <a:t> Resolves many-to-many relationship between animal and feed_item warehouse commodities.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sale_item (Composite PK):</a:t>
            </a:r>
            <a:r>
              <a:rPr sz="1050">
                <a:solidFill>
                  <a:srgbClr val="C2C8D4"/>
                </a:solidFill>
              </a:rPr>
              <a:t> Resolves many-to-many relationship between sale invoices and milk_yield lots.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ECF8E"/>
                </a:solidFill>
              </a:rPr>
              <a:t>milking_session -&gt; milk_yield (1:1/1:N):</a:t>
            </a:r>
            <a:r>
              <a:rPr sz="1050">
                <a:solidFill>
                  <a:srgbClr val="C2C8D4"/>
                </a:solidFill>
              </a:rPr>
              <a:t> Normalized 2-table split separating session timestamps from quantitative harvest lot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RELATIONAL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Relational Schema Mapping &amp; Referential Integrity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Authoritative catalog of primary keys, foreign key rules, and storage engine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Authoritative Relational Architecture (All 14 Tables)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000">
                <a:solidFill>
                  <a:srgbClr val="3ECF8E"/>
                </a:solidFill>
                <a:latin typeface="Consolas"/>
              </a:defRPr>
            </a:pPr>
            <a:r>
              <a:t>TABLE NAME         PRIMARY KEY                    FOREIGN KEY REFERENCES                        ROLE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breed              breed_id (PK)                  None (Root master table)                      Lookup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animal             animal_id (PK)                 breed_id -&gt; breed.breed_id [RESTRICT]         Master Entity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health_visit       visit_id (PK)                  animal_id -&gt; animal.animal_id [ON DELETE CASCADE] Child Log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vaccination        vaccination_id (PK)            animal_id -&gt; animal.animal_id [ON DELETE CASCADE] Clinical Log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breeding_event     breeding_id (PK)               animal_id -&gt; animal [CASCADE], sire_id -&gt; animal [SET NULL] Unary Lineage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feed_item          feed_id (PK)                   None (Commodity catalog)                      Warehouse Master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feed_issue         issue_id (PK)                  feed_id -&gt; feed_item, animal_id -&gt; animal     Associative Bridge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milking_session    session_id (PK)                animal_id -&gt; animal.animal_id [ON DELETE CASCADE] Session Log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milk_yield         yield_id (PK)                  session_id -&gt; milking_session.session_id [CASCADE] Harvest Lot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quality_test       test_id (PK)                   yield_id -&gt; milk_yield.yield_id [ON DELETE CASCADE] Laboratory Assay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buyer              buyer_id (PK)                  None (Customer master)                        Commercial Master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sale               sale_id (PK)                   buyer_id -&gt; buyer.buyer_id [RESTRICT]         Invoice Header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sale_item          (sale_id, yield_id) (Composite PK) sale_id -&gt; sale [CASCADE], yield_id -&gt; milk_yield Invoice Lines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C2C8D4"/>
                </a:solidFill>
                <a:latin typeface="Consolas"/>
              </a:rPr>
              <a:t>payment            payment_id (PK)                sale_id -&gt; sale.sale_id [ON DELETE CASCADE]   Financial 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NORMALIZATION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Formal Normalization Analysis: Achieving 3NF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Elimination of update, deletion, and insertion anomalies through rigorous decomposition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1. First Normal Form (1NF)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Atomic Values &amp; Unique Identifiers</a:t>
            </a:r>
            <a:br/>
            <a:br/>
            <a:r>
              <a:t>- All table attributes contain atomic, indivisible scalar data types (VARCHAR, INT, DECIMAL, DATE).</a:t>
            </a:r>
            <a:br/>
            <a:r>
              <a:t>- No multi-valued repeating groups (e.g. vaccinations stored as comma-separated strings were decomposed into dedicated child rows in vaccination table).</a:t>
            </a:r>
            <a:br/>
            <a:r>
              <a:t>- Every relation has a designated Primary Key guaranteeing tuple uniqueness.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2. Second Normal Form (2NF)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Removal of Partial Key Dependencies</a:t>
            </a:r>
            <a:br/>
            <a:br/>
            <a:r>
              <a:t>- 2NF requires full functional dependency on the entire Primary Key for composite keys.</a:t>
            </a:r>
            <a:br/>
            <a:r>
              <a:t>- In sale_item, the Composite PK is (sale_id, yield_id).</a:t>
            </a:r>
            <a:br/>
            <a:r>
              <a:t>- The dependent attribute quantity_sold and unit_price depend strictly on BOTH sale_id and yield_id together.</a:t>
            </a:r>
            <a:br/>
            <a:r>
              <a:t>- Buyer metadata (buyer_name, contact) was separated into buyer table to avoid partial dependency on sale_id.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3. Third Normal Form (3NF)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Elimination of Transitive Dependencies</a:t>
            </a:r>
            <a:br/>
            <a:br/>
            <a:r>
              <a:t>- In animal: animal_id -&gt; breed_id, and breed_id -&gt; breed_name. Retaining breed_name in animal table would violate 3NF.</a:t>
            </a:r>
            <a:br/>
            <a:r>
              <a:t>- breed_name and description were isolated into a dedicated breed relation.</a:t>
            </a:r>
            <a:br/>
            <a:r>
              <a:t>- In milking_session vs milk_yield: Timestamps and shifts belong to session_id, isolating individual yield lots into 3NF.</a:t>
            </a:r>
            <a:br/>
            <a:r>
              <a:t>- Result: 100% 3NF across all 14 relations.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AUTOMATION &amp;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Active Database Triggers &amp; Analytical SQL View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Server-side integrity automation guaranteeing inventory consistency and commercial reconciliation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4 Active Triggers in dairy_farm_db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before_feed_issue (BEFORE INSERT):</a:t>
            </a:r>
            <a:r>
              <a:rPr sz="1050">
                <a:solidFill>
                  <a:srgbClr val="C2C8D4"/>
                </a:solidFill>
              </a:rPr>
              <a:t> Checks available stock in feed_item. If dispensation &gt; available_quantity, triggers SIGNAL SQLSTATE '45000' preventing negative inventory.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after_feed_issue (AFTER INSERT):</a:t>
            </a:r>
            <a:r>
              <a:rPr sz="1050">
                <a:solidFill>
                  <a:srgbClr val="C2C8D4"/>
                </a:solidFill>
              </a:rPr>
              <a:t> Atomically subtracts issued quantity from feed_item.available_quantity.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after_sale_item (AFTER INSERT):</a:t>
            </a:r>
            <a:r>
              <a:rPr sz="1050">
                <a:solidFill>
                  <a:srgbClr val="C2C8D4"/>
                </a:solidFill>
              </a:rPr>
              <a:t> Computes (quantity_sold * unit_price) and updates the invoice total in sale.total_amount.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after_payment (AFTER INSERT):</a:t>
            </a:r>
            <a:r>
              <a:rPr sz="1050">
                <a:solidFill>
                  <a:srgbClr val="C2C8D4"/>
                </a:solidFill>
              </a:rPr>
              <a:t> Reconciles incoming transaction receipts against total invoices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Derived Analytical View: animal_milk_summary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C96A5"/>
                </a:solidFill>
              </a:defRPr>
            </a:pPr>
            <a:r>
              <a:t>Pre-computed join simplifying application analytics:</a:t>
            </a:r>
            <a:br/>
          </a:p>
          <a:p>
            <a:pPr>
              <a:defRPr sz="950">
                <a:solidFill>
                  <a:srgbClr val="5E6AD2"/>
                </a:solidFill>
                <a:latin typeface="Consolas"/>
              </a:defRPr>
            </a:pPr>
            <a:r>
              <a:t>CREATE VIEW animal_milk_summary AS</a:t>
            </a:r>
            <a:br/>
            <a:r>
              <a:t>SELECT </a:t>
            </a:r>
            <a:br/>
            <a:r>
              <a:t>    a.animal_id,</a:t>
            </a:r>
            <a:br/>
            <a:r>
              <a:t>    a.animal_tag,</a:t>
            </a:r>
            <a:br/>
            <a:r>
              <a:t>    b.breed_name,</a:t>
            </a:r>
            <a:br/>
            <a:r>
              <a:t>    COUNT(my.yield_id) AS total_sessions,</a:t>
            </a:r>
            <a:br/>
            <a:r>
              <a:t>    COALESCE(SUM(my.quantity_litres), 0) AS total_litres,</a:t>
            </a:r>
            <a:br/>
            <a:r>
              <a:t>    COALESCE(AVG(my.quantity_litres), 0) AS avg_yield_per_session</a:t>
            </a:r>
            <a:br/>
            <a:r>
              <a:t>FROM animal a</a:t>
            </a:r>
            <a:br/>
            <a:r>
              <a:t>JOIN breed b ON a.breed_id = b.breed_id</a:t>
            </a:r>
            <a:br/>
            <a:r>
              <a:t>LEFT JOIN milking_session ms ON a.animal_id = ms.animal_id</a:t>
            </a:r>
            <a:br/>
            <a:r>
              <a:t>LEFT JOIN milk_yield my ON ms.session_id = my.session_id</a:t>
            </a:r>
            <a:br/>
            <a:r>
              <a:t>GROUP BY a.animal_id, a.animal_tag, b.breed_name;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SQL QUERY PACK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Comprehensive SQL Query Pack: 30+ Production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Systematic coverage across all relational operators, grouping sets, joins, and subqueries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Basic &amp; Advanced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- SELECT with DISTINCT breeds</a:t>
            </a:r>
            <a:br/>
            <a:r>
              <a:t>- BETWEEN for date range yields</a:t>
            </a:r>
            <a:br/>
            <a:r>
              <a:t>- LIKE operator for ear tags</a:t>
            </a:r>
            <a:br/>
            <a:r>
              <a:t>- IN clause for breed IDs</a:t>
            </a:r>
            <a:br/>
            <a:r>
              <a:t>- IS NULL for unassigned sires</a:t>
            </a:r>
            <a:br/>
            <a:r>
              <a:t>- ORDER BY composite keys</a:t>
            </a:r>
            <a:br/>
            <a:r>
              <a:t>- LIMIT pagination controls</a:t>
            </a:r>
            <a:br/>
            <a:r>
              <a:t>- Multi-predicate WHERE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Aggregates, GROUP BY &amp; HAVING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- SUM() &amp; AVG() lactation totals</a:t>
            </a:r>
            <a:br/>
            <a:r>
              <a:t>- Shift yield distribution</a:t>
            </a:r>
            <a:br/>
            <a:r>
              <a:t>- HAVING SUM(yield) &gt; 20.0 L</a:t>
            </a:r>
            <a:br/>
            <a:r>
              <a:t>- Feed warehouse consumption totals</a:t>
            </a:r>
            <a:br/>
            <a:r>
              <a:t>- Butterfat % min, max, average</a:t>
            </a:r>
            <a:br/>
            <a:r>
              <a:t>- Commercial invoice revenue sums</a:t>
            </a:r>
            <a:br/>
            <a:r>
              <a:t>- Outstanding receivable balances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Joins &amp; Subqueries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2C8D4"/>
                </a:solidFill>
              </a:defRPr>
            </a:pPr>
            <a:r>
              <a:t>- INNER JOIN: Cattle + Breeds</a:t>
            </a:r>
            <a:br/>
            <a:r>
              <a:t>- LEFT JOIN: Milk lots + Tests</a:t>
            </a:r>
            <a:br/>
            <a:r>
              <a:t>- Multi-Table 6-way Join</a:t>
            </a:r>
            <a:br/>
            <a:r>
              <a:t>- Scalar Subquery: High yielders</a:t>
            </a:r>
            <a:br/>
            <a:r>
              <a:t>- Correlated Subquery: Top cow per breed</a:t>
            </a:r>
            <a:br/>
            <a:r>
              <a:t>- Subquery with EXISTS: Unpaid invoices</a:t>
            </a:r>
            <a:br/>
            <a:r>
              <a:t>- Self Join on sire_id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FEATURE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Feature Query #29: End-to-End Relationship Trace (Animal #20)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Traversing animal -&gt; breed -&gt; milking_session -&gt; milk_yield -&gt; quality_test -&gt; sale_item -&gt; sale -&gt; buyer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852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SQL Query #29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ECF8E"/>
                </a:solidFill>
                <a:latin typeface="Consolas"/>
              </a:defRPr>
            </a:pPr>
            <a:r>
              <a:t>SELECT </a:t>
            </a:r>
            <a:br/>
            <a:r>
              <a:t>    a.animal_id, a.animal_tag, b.breed_name,</a:t>
            </a:r>
            <a:br/>
            <a:r>
              <a:t>    my.quantity_litres, qt.fat_percentage, qt.snf_percentage,</a:t>
            </a:r>
            <a:br/>
            <a:r>
              <a:t>    si.quantity_sold, s.total_amount, bu.buyer_name</a:t>
            </a:r>
            <a:br/>
            <a:r>
              <a:t>FROM animal a</a:t>
            </a:r>
            <a:br/>
            <a:r>
              <a:t>JOIN breed b ON a.breed_id = b.breed_id</a:t>
            </a:r>
            <a:br/>
            <a:r>
              <a:t>JOIN milking_session ms ON a.animal_id = ms.animal_id</a:t>
            </a:r>
            <a:br/>
            <a:r>
              <a:t>JOIN milk_yield my ON ms.session_id = my.session_id</a:t>
            </a:r>
            <a:br/>
            <a:r>
              <a:t>LEFT JOIN quality_test qt ON my.yield_id = qt.yield_id</a:t>
            </a:r>
            <a:br/>
            <a:r>
              <a:t>LEFT JOIN sale_item si ON my.yield_id = si.yield_id</a:t>
            </a:r>
            <a:br/>
            <a:r>
              <a:t>LEFT JOIN sale s ON si.sale_id = s.sale_id</a:t>
            </a:r>
            <a:br/>
            <a:r>
              <a:t>LEFT JOIN buyer bu ON s.buyer_id = bu.buyer_id</a:t>
            </a:r>
            <a:br/>
            <a:r>
              <a:t>WHERE a.animal_id = 20;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783080"/>
            <a:ext cx="38404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Verified Execution Output from MySQL 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0312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animal_id:        </a:t>
            </a:r>
            <a:r>
              <a:rPr sz="1100">
                <a:solidFill>
                  <a:srgbClr val="F4F6FA"/>
                </a:solidFill>
                <a:latin typeface="Consolas"/>
              </a:rPr>
              <a:t> 20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animal_name:      </a:t>
            </a:r>
            <a:r>
              <a:rPr sz="1100">
                <a:solidFill>
                  <a:srgbClr val="F4F6FA"/>
                </a:solidFill>
                <a:latin typeface="Consolas"/>
              </a:rPr>
              <a:t> Mangala (Cow #20)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animal_tag:       </a:t>
            </a:r>
            <a:r>
              <a:rPr sz="1100">
                <a:solidFill>
                  <a:srgbClr val="F4F6FA"/>
                </a:solidFill>
                <a:latin typeface="Consolas"/>
              </a:rPr>
              <a:t> A1020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breed_name:       </a:t>
            </a:r>
            <a:r>
              <a:rPr sz="1100">
                <a:solidFill>
                  <a:srgbClr val="F4F6FA"/>
                </a:solidFill>
                <a:latin typeface="Consolas"/>
              </a:rPr>
              <a:t> Nagori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quantity_litres:  </a:t>
            </a:r>
            <a:r>
              <a:rPr sz="1100">
                <a:solidFill>
                  <a:srgbClr val="F4F6FA"/>
                </a:solidFill>
                <a:latin typeface="Consolas"/>
              </a:rPr>
              <a:t> 24.0 Litres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fat_percentage:   </a:t>
            </a:r>
            <a:r>
              <a:rPr sz="1100">
                <a:solidFill>
                  <a:srgbClr val="F4F6FA"/>
                </a:solidFill>
                <a:latin typeface="Consolas"/>
              </a:rPr>
              <a:t> 3.50%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snf_percentage:   </a:t>
            </a:r>
            <a:r>
              <a:rPr sz="1100">
                <a:solidFill>
                  <a:srgbClr val="F4F6FA"/>
                </a:solidFill>
                <a:latin typeface="Consolas"/>
              </a:rPr>
              <a:t> 8.90%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quantity_sold:    </a:t>
            </a:r>
            <a:r>
              <a:rPr sz="1100">
                <a:solidFill>
                  <a:srgbClr val="F4F6FA"/>
                </a:solidFill>
                <a:latin typeface="Consolas"/>
              </a:rPr>
              <a:t> 7.0 Litres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total_amount:     </a:t>
            </a:r>
            <a:r>
              <a:rPr sz="1100">
                <a:solidFill>
                  <a:srgbClr val="F4F6FA"/>
                </a:solidFill>
                <a:latin typeface="Consolas"/>
              </a:rPr>
              <a:t> ₹343.00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buyer_name:       </a:t>
            </a:r>
            <a:r>
              <a:rPr sz="1100">
                <a:solidFill>
                  <a:srgbClr val="F4F6FA"/>
                </a:solidFill>
                <a:latin typeface="Consolas"/>
              </a:rPr>
              <a:t> Heritage Fresh Dairy Union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5E6AD2"/>
                </a:solidFill>
                <a:latin typeface="Consolas"/>
              </a:rPr>
              <a:t>Execution Time:   </a:t>
            </a:r>
            <a:r>
              <a:rPr sz="1100">
                <a:solidFill>
                  <a:srgbClr val="F4F6FA"/>
                </a:solidFill>
                <a:latin typeface="Consolas"/>
              </a:rPr>
              <a:t> 1.06 milliseconds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TESTING &amp; ACID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Database Volume, Referential Verification &amp; ACID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Populated with 50 rows per table (700 total rows) validating constraints and cascades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377440" cy="118872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21031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TOTAL DATABASE RECORDS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700 Rows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Exactly 50 Rows Per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377440" cy="118872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755648"/>
            <a:ext cx="21031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FK CASCADES VERIFIED</a:t>
            </a:r>
          </a:p>
          <a:p>
            <a:pPr>
              <a:defRPr sz="2200" b="1">
                <a:solidFill>
                  <a:srgbClr val="5E6AD2"/>
                </a:solidFill>
                <a:latin typeface="Consolas"/>
              </a:defRPr>
            </a:pPr>
            <a:r>
              <a:t>14 / 14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Zero Orphaned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45920"/>
            <a:ext cx="2377440" cy="118872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755648"/>
            <a:ext cx="21031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CONSTRAINT ENFORCEMENT</a:t>
            </a:r>
          </a:p>
          <a:p>
            <a:pPr>
              <a:defRPr sz="2200" b="1">
                <a:solidFill>
                  <a:srgbClr val="3ECF8E"/>
                </a:solidFill>
                <a:latin typeface="Consolas"/>
              </a:defRPr>
            </a:pPr>
            <a:r>
              <a:t>100%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NOT NULL &amp; CHECK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017520" cy="1188720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755648"/>
            <a:ext cx="27432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C96A5"/>
                </a:solidFill>
                <a:latin typeface="Segoe UI"/>
              </a:defRPr>
            </a:pPr>
            <a:r>
              <a:t>AVERAGE QUERY LATENCY</a:t>
            </a:r>
          </a:p>
          <a:p>
            <a:pPr>
              <a:defRPr sz="2200" b="1">
                <a:solidFill>
                  <a:srgbClr val="5E6AD2"/>
                </a:solidFill>
                <a:latin typeface="Consolas"/>
              </a:defRPr>
            </a:pPr>
            <a:r>
              <a:t>&lt; 2.0 ms</a:t>
            </a:r>
          </a:p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InnoDB B-Tree Indexing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5120640" cy="31089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ACID Compliance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2C8D4"/>
                </a:solidFill>
              </a:defRPr>
            </a:pPr>
            <a:r>
              <a:t>- Atomicity: Multi-table inserts across milking_session and milk_yield succeed or rollback completely as a single unit.</a:t>
            </a:r>
            <a:br/>
            <a:r>
              <a:t>- Consistency: Unique ear-tag constraint prevents duplicate cattle entries; CHECK constraints validate positive milk litres.</a:t>
            </a:r>
            <a:br/>
            <a:r>
              <a:t>- Isolation: Repeatable Read isolation level in MySQL guarantees serializable views during concurrent reads.</a:t>
            </a:r>
            <a:br/>
            <a:r>
              <a:t>- Durability: InnoDB write-ahead redo log ensures committed records persist on disk.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108960"/>
            <a:ext cx="5303520" cy="310896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24612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Cascade Deletion Verification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C2C8D4"/>
                </a:solidFill>
              </a:defRPr>
            </a:pPr>
            <a:r>
              <a:t>- Test: Deleting an animal ID triggers foreign key cascade.</a:t>
            </a:r>
            <a:br/>
            <a:r>
              <a:t>- Verification: Automatically purged linked rows in health_visit, vaccination, breeding_event, and milking_session.</a:t>
            </a:r>
            <a:br/>
            <a:r>
              <a:t>- Zero dangling foreign keys left in database.</a:t>
            </a:r>
            <a:br/>
            <a:r>
              <a:t>- Triggers prevented accidental negative inventory when dispensing warehouse commodities.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1B22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ECF8E"/>
                </a:solidFill>
                <a:latin typeface="Consolas"/>
              </a:defRPr>
            </a:pPr>
            <a:r>
              <a:t>- VIVA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365760"/>
            <a:ext cx="3657600" cy="292608"/>
          </a:xfrm>
          <a:prstGeom prst="roundRect">
            <a:avLst/>
          </a:prstGeom>
          <a:solidFill>
            <a:srgbClr val="12141A"/>
          </a:solidFill>
          <a:ln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8C96A5"/>
                </a:solidFill>
                <a:latin typeface="Segoe UI"/>
              </a:defRPr>
            </a:pPr>
            <a:r>
              <a:t>Student: Mohammed Zaid (25WU0102163) -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F6FA"/>
                </a:solidFill>
                <a:latin typeface="Segoe UI"/>
              </a:defRPr>
            </a:pPr>
            <a:r>
              <a:t>Summary of Technical Achievements &amp; Viva Defense Preparedness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96A5"/>
                </a:solidFill>
                <a:latin typeface="Segoe UI"/>
              </a:defRPr>
            </a:pPr>
            <a:r>
              <a:t>Comprehensive readiness across relational theory, normalization proofs, and SQL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Core Technical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Enterprise Architecture:</a:t>
            </a:r>
            <a:r>
              <a:rPr sz="1100">
                <a:solidFill>
                  <a:srgbClr val="C2C8D4"/>
                </a:solidFill>
              </a:rPr>
              <a:t> Modeled full dairy operations across 14 tables without combining distinct domains.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Boyce-Codd / 3NF Normalization:</a:t>
            </a:r>
            <a:r>
              <a:rPr sz="1100">
                <a:solidFill>
                  <a:srgbClr val="C2C8D4"/>
                </a:solidFill>
              </a:rPr>
              <a:t> Isolated breed metadata, customer master data, and harvest lot assay records.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Active Triggers:</a:t>
            </a:r>
            <a:r>
              <a:rPr sz="1100">
                <a:solidFill>
                  <a:srgbClr val="C2C8D4"/>
                </a:solidFill>
              </a:rPr>
              <a:t> Protected warehouse stock levels and calculated invoice totals automatically.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3ECF8E"/>
                </a:solidFill>
              </a:rPr>
              <a:t>30-Query SQL Pack:</a:t>
            </a:r>
            <a:r>
              <a:rPr sz="1100">
                <a:solidFill>
                  <a:srgbClr val="C2C8D4"/>
                </a:solidFill>
              </a:rPr>
              <a:t> Fully documented, tested, and executable on live MySQL 8.0.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12141A"/>
          </a:solidFill>
          <a:ln w="12700">
            <a:solidFill>
              <a:srgbClr val="26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6FA"/>
                </a:solidFill>
                <a:latin typeface="Segoe UI"/>
              </a:defRPr>
            </a:pPr>
            <a:r>
              <a:t>Key Viva Questions Ready for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050">
                <a:solidFill>
                  <a:srgbClr val="5E6AD2"/>
                </a:solidFill>
              </a:rPr>
              <a:t>Q: Why separate milking_session and milk_yield?</a:t>
            </a:r>
            <a:r>
              <a:rPr sz="1000">
                <a:solidFill>
                  <a:srgbClr val="C2C8D4"/>
                </a:solidFill>
              </a:rPr>
              <a:t>
A:  To achieve 3NF. Session holds operational timestamp and shift; yield holds quantitative harvest lots per cow.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5E6AD2"/>
                </a:solidFill>
              </a:rPr>
              <a:t>Q: Why use ON DELETE CASCADE on animal_id?</a:t>
            </a:r>
            <a:r>
              <a:rPr sz="1000">
                <a:solidFill>
                  <a:srgbClr val="C2C8D4"/>
                </a:solidFill>
              </a:rPr>
              <a:t>
A:  If cattle is permanently expunged, child clinical logs and milking records must be purged to maintain referential consistency.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5E6AD2"/>
                </a:solidFill>
              </a:rPr>
              <a:t>Q: Difference between Triggers and Constraints?</a:t>
            </a:r>
            <a:r>
              <a:rPr sz="1000">
                <a:solidFill>
                  <a:srgbClr val="C2C8D4"/>
                </a:solidFill>
              </a:rPr>
              <a:t>
A:  Constraints (CHECK, UNIQUE) validate single-row attributes; triggers execute procedural logic across multiple relations.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5E6AD2"/>
                </a:solidFill>
              </a:rPr>
              <a:t>Q: How does Query 29 trace Animal 20?</a:t>
            </a:r>
            <a:r>
              <a:rPr sz="1000">
                <a:solidFill>
                  <a:srgbClr val="C2C8D4"/>
                </a:solidFill>
              </a:rPr>
              <a:t>
A:  Joins 6 relations via foreign key chain animal_id -&gt; session_id -&gt; yield_id -&gt; sale_id -&gt; buyer_id.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Segoe UI"/>
              </a:defRPr>
            </a:pPr>
            <a:r>
              <a:t>DBMS Course Project - Dairy Farm Herd &amp; Milk Collection Management System - Mentor: Dr. Kiran Mayee Adavala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